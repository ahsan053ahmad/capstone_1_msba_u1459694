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68" r:id="rId5"/>
    <p:sldId id="276" r:id="rId6"/>
    <p:sldId id="267" r:id="rId7"/>
    <p:sldId id="269" r:id="rId8"/>
    <p:sldId id="270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1830"/>
    <a:srgbClr val="C00000"/>
    <a:srgbClr val="B7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2B2A7-0D05-43D8-9FA2-F48C61BB1F8A}" v="1" dt="2024-04-15T01:12:58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9"/>
    <p:restoredTop sz="94669"/>
  </p:normalViewPr>
  <p:slideViewPr>
    <p:cSldViewPr snapToGrid="0">
      <p:cViewPr varScale="1">
        <p:scale>
          <a:sx n="90" d="100"/>
          <a:sy n="9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san Ahmad" userId="cd2eb48515039439" providerId="LiveId" clId="{C5C2B2A7-0D05-43D8-9FA2-F48C61BB1F8A}"/>
    <pc:docChg chg="modSld">
      <pc:chgData name="Ahsan Ahmad" userId="cd2eb48515039439" providerId="LiveId" clId="{C5C2B2A7-0D05-43D8-9FA2-F48C61BB1F8A}" dt="2024-04-15T01:13:30.906" v="1"/>
      <pc:docMkLst>
        <pc:docMk/>
      </pc:docMkLst>
      <pc:sldChg chg="modSp modAnim">
        <pc:chgData name="Ahsan Ahmad" userId="cd2eb48515039439" providerId="LiveId" clId="{C5C2B2A7-0D05-43D8-9FA2-F48C61BB1F8A}" dt="2024-04-15T01:12:58.251" v="0"/>
        <pc:sldMkLst>
          <pc:docMk/>
          <pc:sldMk cId="3358311609" sldId="273"/>
        </pc:sldMkLst>
        <pc:spChg chg="mod">
          <ac:chgData name="Ahsan Ahmad" userId="cd2eb48515039439" providerId="LiveId" clId="{C5C2B2A7-0D05-43D8-9FA2-F48C61BB1F8A}" dt="2024-04-15T01:12:58.251" v="0"/>
          <ac:spMkLst>
            <pc:docMk/>
            <pc:sldMk cId="3358311609" sldId="273"/>
            <ac:spMk id="3" creationId="{81F9EE77-6F10-AC95-72BE-E935C8506430}"/>
          </ac:spMkLst>
        </pc:spChg>
      </pc:sldChg>
      <pc:sldChg chg="modNotesTx">
        <pc:chgData name="Ahsan Ahmad" userId="cd2eb48515039439" providerId="LiveId" clId="{C5C2B2A7-0D05-43D8-9FA2-F48C61BB1F8A}" dt="2024-04-15T01:13:30.906" v="1"/>
        <pc:sldMkLst>
          <pc:docMk/>
          <pc:sldMk cId="846856973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AC6C7-371A-964C-9D4F-C55A1BDC78CF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94B22-334A-D64F-AD3E-4966A5AF7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7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94B22-334A-D64F-AD3E-4966A5AF7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27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e8798f03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e8798f03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Whenever the probability of default &gt; 55.76%, </a:t>
            </a:r>
            <a:r>
              <a:rPr lang="en-US" dirty="0" err="1"/>
              <a:t>HomeCredit</a:t>
            </a:r>
            <a:r>
              <a:rPr lang="en-US" dirty="0"/>
              <a:t> should not give out loan to the customer as Revenue loss &gt; Opportunity cost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394B22-334A-D64F-AD3E-4966A5AF7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7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9230-2CD0-DF0C-2A9F-6B7DBD338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688300-D0B7-5448-5962-3C4396E8C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2CD76-D4D8-CACE-4583-3DAEE1EB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F29A7-AC9E-39DE-86F2-7F783691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1A979-BD7E-9C35-3BFF-3C3D2173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80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5182-A271-6F57-7DE3-EADDE8BC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64DCF-5389-6156-6DA7-6165B6CB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2BDF6-4A49-5C58-1018-D751D832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82EEA-5CC3-937E-C23E-9DF0F9EE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66B8-085C-6DDA-10C1-0B3A17DB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95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695E-FA50-F7F4-BD0B-B24943D8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E075-101A-A68F-7BE2-2F7537F8C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3126-FE69-9EDF-24FF-7DF147FE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D038D-E197-C6ED-A937-79544999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0394-6755-5997-91A9-932077FA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9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901E-D4A9-BAE8-6E8A-9CAB8E68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40721-A278-F585-0E5D-AE4D23128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F2E8A-6C18-8137-12F0-D7D34477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8AA67-4E2C-E222-12B7-3A2B666F6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38056-1991-B87F-ADA0-504451F7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20093-978B-2F6B-54F9-593CC7AD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96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0317-A33B-4788-B3AB-A2D7CD52A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A42E2-AC40-EEB1-EA09-AC4E7B2AF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88524-898C-9C41-169C-033FA0289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BBFFB-F551-92DE-2C66-B5964F21D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2CB49-57FF-F8C6-7CDE-988BD531B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18CF4-9FD4-151B-9768-B969461FD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E3B6B-9DDE-7421-5CE0-8857D78A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70749-D357-9D2A-DC4F-8F56B9987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789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27117-1265-F561-43D3-7486F2FC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3CC04-2FF4-DBA6-B6DC-15E3F059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88DE1-57C1-BE97-2CCA-604FE66C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C44A6-0B5F-E7B2-2D37-CE42391A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05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02420-034D-7139-C279-FF7D0DEF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77093-0876-4783-7E47-67B7F9F2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72F96-63FF-339F-4D81-D6184C068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9486-8C26-50B4-8F33-2F7F0663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7DC4D-932D-0568-A344-1F13DEF02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43F0-7913-6A22-F076-C2402BDDB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FB3E5-CFF8-7BF1-6C0B-D7C12F60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E5382-08F3-98BA-C3A9-FDDF7410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C5F66-6CDD-F8F4-2B56-1C1D3F43F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95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3E7F-0B4A-3D34-5A69-00D706FA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3B215-2FF3-4DAE-834A-510FA3820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F517D-5587-BC06-25DB-CC5E742CC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E55F1-608D-FAD3-CF4D-530A7EA4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2855F-9118-2D3B-843B-27A6F2ECF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01FA1-A1F6-E3E5-64CB-F5128351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88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3A13-6D44-37E4-690C-1DE62AE00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81187-7912-D36E-DD3D-0F0E1D853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A77E1-B8F7-43D9-8095-007D03BE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F9B50-B018-E3D1-4303-9B010820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146D5-C7F7-5ED8-3A11-EA7A974F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72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BE8E2-29B2-D8A6-298F-25A712689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9382F-4414-00C1-A060-1CA66D5BF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546F-1F53-768A-B673-23AF09AD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677D4-CE4C-51E5-DAB2-1A351B66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DA8B0-374F-61AA-DB55-8C1C293E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23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843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2894-AD75-ABC4-8851-C99A0EFE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1CFE2-C81F-521B-E5B7-2F083DEDE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B377C-9C63-002D-7984-4250300E2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1ADA1-151E-4E44-9E69-7187EC200D92}" type="datetimeFigureOut">
              <a:rPr lang="en-IN" smtClean="0"/>
              <a:t>14-04-2024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E94FD-2BCF-649A-C09F-9AF4CB1AC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CBBBA-495C-1205-18BF-34F610F0A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80583-1F50-4CA4-AE9C-B155BED85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59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EB36FC-98C3-3303-12C0-B48CAEFF3BB5}"/>
              </a:ext>
            </a:extLst>
          </p:cNvPr>
          <p:cNvSpPr txBox="1"/>
          <p:nvPr/>
        </p:nvSpPr>
        <p:spPr>
          <a:xfrm>
            <a:off x="3117860" y="4057015"/>
            <a:ext cx="59562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CamptonW00-Book" pitchFamily="2" charset="0"/>
              </a:rPr>
              <a:t>Predicting Loan Defaults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D72F3-4519-5100-1ED1-154EE90DA80E}"/>
              </a:ext>
            </a:extLst>
          </p:cNvPr>
          <p:cNvSpPr txBox="1"/>
          <p:nvPr/>
        </p:nvSpPr>
        <p:spPr>
          <a:xfrm>
            <a:off x="82549" y="5782194"/>
            <a:ext cx="12026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CamptonW00-Book" pitchFamily="2" charset="0"/>
              </a:rPr>
              <a:t>Ahsan Ahmed     </a:t>
            </a:r>
            <a:r>
              <a:rPr lang="en-IN" sz="2800" dirty="0" err="1">
                <a:solidFill>
                  <a:schemeClr val="bg1"/>
                </a:solidFill>
                <a:latin typeface="CamptonW00-Book" pitchFamily="2" charset="0"/>
              </a:rPr>
              <a:t>Raunak</a:t>
            </a:r>
            <a:r>
              <a:rPr lang="en-IN" sz="2800" dirty="0">
                <a:solidFill>
                  <a:schemeClr val="bg1"/>
                </a:solidFill>
                <a:latin typeface="CamptonW00-Book" pitchFamily="2" charset="0"/>
              </a:rPr>
              <a:t> Sharma     Scott Silverstein     Rylan </a:t>
            </a:r>
            <a:r>
              <a:rPr lang="en-IN" sz="2800" dirty="0" err="1">
                <a:solidFill>
                  <a:schemeClr val="bg1"/>
                </a:solidFill>
                <a:latin typeface="CamptonW00-Book" pitchFamily="2" charset="0"/>
              </a:rPr>
              <a:t>Tribush</a:t>
            </a:r>
            <a:endParaRPr lang="en-IN" sz="28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pic>
        <p:nvPicPr>
          <p:cNvPr id="8" name="Picture 7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9BA4658D-A475-E9CB-14F7-71F19F875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52586"/>
            <a:ext cx="76200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0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21916E-8B2B-D74A-762C-C8457AB69771}"/>
              </a:ext>
            </a:extLst>
          </p:cNvPr>
          <p:cNvSpPr txBox="1"/>
          <p:nvPr/>
        </p:nvSpPr>
        <p:spPr>
          <a:xfrm>
            <a:off x="842480" y="503434"/>
            <a:ext cx="107981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sz="60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The Heart of Home Credit</a:t>
            </a:r>
          </a:p>
        </p:txBody>
      </p:sp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5847AA34-B7D4-2C5A-03B1-989AFBE4F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35" y="1628348"/>
            <a:ext cx="11767004" cy="3602736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146074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F4421-EBFB-662D-31C3-AC9741FA2285}"/>
              </a:ext>
            </a:extLst>
          </p:cNvPr>
          <p:cNvSpPr txBox="1"/>
          <p:nvPr/>
        </p:nvSpPr>
        <p:spPr>
          <a:xfrm>
            <a:off x="984607" y="852113"/>
            <a:ext cx="102227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Our Goal: Improve Financial Inclu</a:t>
            </a:r>
            <a:r>
              <a:rPr lang="en-US" sz="4000" b="1" dirty="0">
                <a:solidFill>
                  <a:schemeClr val="bg1"/>
                </a:solidFill>
                <a:latin typeface="CamptonW00-Book" pitchFamily="2" charset="0"/>
              </a:rPr>
              <a:t>sion Through Access to Credit</a:t>
            </a:r>
            <a:endParaRPr lang="en-IN" sz="40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1B281-B2BD-049A-EFCE-6AEB1E3C4761}"/>
              </a:ext>
            </a:extLst>
          </p:cNvPr>
          <p:cNvSpPr txBox="1"/>
          <p:nvPr/>
        </p:nvSpPr>
        <p:spPr>
          <a:xfrm>
            <a:off x="2423424" y="3075057"/>
            <a:ext cx="7345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How Do We Achieve that?</a:t>
            </a:r>
            <a:endParaRPr lang="en-IN" sz="40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B3FD1-B440-2D8E-8DF7-84B8379D2499}"/>
              </a:ext>
            </a:extLst>
          </p:cNvPr>
          <p:cNvSpPr txBox="1"/>
          <p:nvPr/>
        </p:nvSpPr>
        <p:spPr>
          <a:xfrm>
            <a:off x="2423424" y="4682448"/>
            <a:ext cx="73451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Better Identification of Creditworth</a:t>
            </a:r>
            <a:r>
              <a:rPr lang="en-US" sz="4000" b="1" dirty="0">
                <a:solidFill>
                  <a:schemeClr val="bg1"/>
                </a:solidFill>
                <a:latin typeface="CamptonW00-Book" pitchFamily="2" charset="0"/>
              </a:rPr>
              <a:t>y Customers!</a:t>
            </a:r>
            <a:endParaRPr lang="en-IN" sz="4000" dirty="0">
              <a:solidFill>
                <a:schemeClr val="bg1"/>
              </a:solidFill>
              <a:latin typeface="CamptonW00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8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72A2A-91A7-6F53-172E-E1AC1E5725C9}"/>
              </a:ext>
            </a:extLst>
          </p:cNvPr>
          <p:cNvSpPr txBox="1"/>
          <p:nvPr/>
        </p:nvSpPr>
        <p:spPr>
          <a:xfrm>
            <a:off x="1536700" y="0"/>
            <a:ext cx="911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Finding #1: Quantity of Data</a:t>
            </a:r>
            <a:endParaRPr lang="en-IN" sz="28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pic>
        <p:nvPicPr>
          <p:cNvPr id="4" name="Picture 3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020C0DA4-5BF9-42A7-9102-46BE4241F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052698"/>
            <a:ext cx="9410700" cy="580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6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79F44-53EF-E002-DFC2-0B65C48D707F}"/>
              </a:ext>
            </a:extLst>
          </p:cNvPr>
          <p:cNvSpPr txBox="1"/>
          <p:nvPr/>
        </p:nvSpPr>
        <p:spPr>
          <a:xfrm>
            <a:off x="947057" y="599105"/>
            <a:ext cx="6520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CamptonW00-Book"/>
              </a:rPr>
              <a:t>Data Set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C6CE1-97FB-FFF2-7BAA-12069D556687}"/>
              </a:ext>
            </a:extLst>
          </p:cNvPr>
          <p:cNvSpPr txBox="1"/>
          <p:nvPr/>
        </p:nvSpPr>
        <p:spPr>
          <a:xfrm>
            <a:off x="685799" y="1763677"/>
            <a:ext cx="1042851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mptonW00-Book"/>
              </a:rPr>
              <a:t>Home Credit  Default Risk Data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CamptonW00-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ptonW00-Book"/>
              </a:rPr>
              <a:t>Application Data: Core data with individual loan applications, personal and financial details.</a:t>
            </a:r>
          </a:p>
          <a:p>
            <a:endParaRPr lang="en-US" sz="2400" dirty="0">
              <a:solidFill>
                <a:schemeClr val="bg1"/>
              </a:solidFill>
              <a:latin typeface="CamptonW00-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ptonW00-Book"/>
              </a:rPr>
              <a:t>Credit Bureau Data: past credits from other financial institutions.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amptonW00-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ptonW00-Book"/>
              </a:rPr>
              <a:t>Previous Loan Performance: with home credit.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amptonW00-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mptonW00-Book"/>
              </a:rPr>
              <a:t>Repayment History: records of payments made and missed for previously disbursed credits</a:t>
            </a:r>
            <a:endParaRPr lang="en-IN" sz="2400" dirty="0">
              <a:solidFill>
                <a:schemeClr val="bg1"/>
              </a:solidFill>
              <a:latin typeface="CamptonW00-Book"/>
            </a:endParaRPr>
          </a:p>
        </p:txBody>
      </p:sp>
    </p:spTree>
    <p:extLst>
      <p:ext uri="{BB962C8B-B14F-4D97-AF65-F5344CB8AC3E}">
        <p14:creationId xmlns:p14="http://schemas.microsoft.com/office/powerpoint/2010/main" val="1165887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A75981-6E2B-7F25-3986-9EDD10831AE7}"/>
              </a:ext>
            </a:extLst>
          </p:cNvPr>
          <p:cNvSpPr txBox="1"/>
          <p:nvPr/>
        </p:nvSpPr>
        <p:spPr>
          <a:xfrm>
            <a:off x="1536700" y="0"/>
            <a:ext cx="911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Finding #2: Imbalanced Target</a:t>
            </a:r>
            <a:endParaRPr lang="en-IN" sz="28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pic>
        <p:nvPicPr>
          <p:cNvPr id="5" name="Picture 4" descr="A graph of a loan outcome&#10;&#10;Description automatically generated with medium confidence">
            <a:extLst>
              <a:ext uri="{FF2B5EF4-FFF2-40B4-BE49-F238E27FC236}">
                <a16:creationId xmlns:a16="http://schemas.microsoft.com/office/drawing/2014/main" id="{CD49C6E6-CDDF-3E55-2CB3-1E57E94B3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3" y="523220"/>
            <a:ext cx="10104314" cy="623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1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D3D48D-6ADE-30D0-C460-F60226CDC70C}"/>
              </a:ext>
            </a:extLst>
          </p:cNvPr>
          <p:cNvSpPr txBox="1"/>
          <p:nvPr/>
        </p:nvSpPr>
        <p:spPr>
          <a:xfrm>
            <a:off x="88900" y="0"/>
            <a:ext cx="1201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chemeClr val="bg1"/>
                </a:solidFill>
                <a:effectLst/>
                <a:latin typeface="CamptonW00-Book" pitchFamily="2" charset="0"/>
              </a:rPr>
              <a:t>Finding #3: Some Features are More Important</a:t>
            </a:r>
            <a:endParaRPr lang="en-IN" sz="28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0B2F80-6300-E2B0-9B6B-7D1FB0B4E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702" y="707886"/>
            <a:ext cx="9624595" cy="59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13C0D-B4A4-9418-44FD-FF6B74597DD2}"/>
              </a:ext>
            </a:extLst>
          </p:cNvPr>
          <p:cNvSpPr txBox="1"/>
          <p:nvPr/>
        </p:nvSpPr>
        <p:spPr>
          <a:xfrm>
            <a:off x="88900" y="0"/>
            <a:ext cx="1201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mptonW00-Book" pitchFamily="2" charset="0"/>
              </a:rPr>
              <a:t>Our Solution: </a:t>
            </a:r>
            <a:r>
              <a:rPr lang="en-US" sz="2800" b="1" dirty="0" err="1">
                <a:solidFill>
                  <a:schemeClr val="bg1"/>
                </a:solidFill>
                <a:latin typeface="CamptonW00-Book" pitchFamily="2" charset="0"/>
              </a:rPr>
              <a:t>XGBoost</a:t>
            </a:r>
            <a:endParaRPr lang="en-IN" sz="2800" dirty="0">
              <a:solidFill>
                <a:schemeClr val="bg1"/>
              </a:solidFill>
              <a:latin typeface="CamptonW00-Book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DA89A-171A-762B-063B-E2ADF5F94A47}"/>
              </a:ext>
            </a:extLst>
          </p:cNvPr>
          <p:cNvSpPr txBox="1"/>
          <p:nvPr/>
        </p:nvSpPr>
        <p:spPr>
          <a:xfrm>
            <a:off x="673100" y="1817756"/>
            <a:ext cx="11214100" cy="5040244"/>
          </a:xfrm>
          <a:prstGeom prst="rect">
            <a:avLst/>
          </a:prstGeom>
          <a:noFill/>
        </p:spPr>
        <p:txBody>
          <a:bodyPr wrap="square" numCol="2" spcCol="457200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Usable with big data sets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  <a:latin typeface="CamptonW00-Book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Handles imbalanced targets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  <a:latin typeface="CamptonW00-Book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Automatically identifies important features</a:t>
            </a:r>
          </a:p>
          <a:p>
            <a:endParaRPr lang="en-US" sz="3200" b="1" dirty="0">
              <a:solidFill>
                <a:schemeClr val="bg1"/>
              </a:solidFill>
              <a:latin typeface="CamptonW00-Book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Uses regularization to avoid overfitting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  <a:latin typeface="CamptonW00-Book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High performance and customization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  <a:latin typeface="CamptonW00-Book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CamptonW00-Book" pitchFamily="2" charset="0"/>
              </a:rPr>
              <a:t>Test Set AUC: 0.76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endParaRPr lang="en-IN" sz="4000" dirty="0">
              <a:solidFill>
                <a:schemeClr val="bg1"/>
              </a:solidFill>
              <a:latin typeface="CamptonW00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6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36" y="1449707"/>
            <a:ext cx="8249985" cy="5094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1967" y="5125375"/>
            <a:ext cx="3048000" cy="1406467"/>
          </a:xfrm>
          <a:prstGeom prst="rect">
            <a:avLst/>
          </a:prstGeom>
          <a:noFill/>
          <a:ln w="114300" cap="flat" cmpd="sng">
            <a:solidFill>
              <a:srgbClr val="9D842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81967" y="3295983"/>
            <a:ext cx="3048000" cy="1402080"/>
          </a:xfrm>
          <a:prstGeom prst="rect">
            <a:avLst/>
          </a:prstGeom>
          <a:noFill/>
          <a:ln w="114300" cap="flat" cmpd="sng">
            <a:solidFill>
              <a:srgbClr val="94291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81967" y="1449707"/>
            <a:ext cx="3048000" cy="1402080"/>
          </a:xfrm>
          <a:prstGeom prst="rect">
            <a:avLst/>
          </a:prstGeom>
          <a:noFill/>
          <a:ln w="114300" cap="flat" cmpd="sng">
            <a:solidFill>
              <a:srgbClr val="90A58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808CA6-45EC-8B3D-C1C2-87D2BEB719AF}"/>
              </a:ext>
            </a:extLst>
          </p:cNvPr>
          <p:cNvSpPr txBox="1"/>
          <p:nvPr/>
        </p:nvSpPr>
        <p:spPr>
          <a:xfrm>
            <a:off x="88900" y="0"/>
            <a:ext cx="1201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CamptonW00-Book" pitchFamily="2" charset="0"/>
              </a:rPr>
              <a:t>Our Model Provides Performance and Adaptability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9EE77-6F10-AC95-72BE-E935C8506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sz="3600" dirty="0">
                <a:solidFill>
                  <a:schemeClr val="bg1"/>
                </a:solidFill>
                <a:latin typeface="CamptonW00-Book" pitchFamily="2" charset="0"/>
              </a:rPr>
              <a:t>Loss of Revenue due to Default =</a:t>
            </a:r>
          </a:p>
          <a:p>
            <a:pPr marL="152396" indent="0">
              <a:buNone/>
            </a:pPr>
            <a:r>
              <a:rPr lang="en-US" sz="3600" dirty="0">
                <a:solidFill>
                  <a:schemeClr val="bg1"/>
                </a:solidFill>
                <a:latin typeface="CamptonW00-Book" pitchFamily="2" charset="0"/>
              </a:rPr>
              <a:t>	(Loan Amount * APR) * P(Default)</a:t>
            </a:r>
          </a:p>
          <a:p>
            <a:pPr marL="152396" indent="0">
              <a:buNone/>
            </a:pPr>
            <a:endParaRPr lang="en-US" sz="3600" dirty="0">
              <a:solidFill>
                <a:schemeClr val="bg1"/>
              </a:solidFill>
              <a:latin typeface="CamptonW00-Book" pitchFamily="2" charset="0"/>
            </a:endParaRPr>
          </a:p>
          <a:p>
            <a:pPr marL="152396" indent="0">
              <a:buNone/>
            </a:pPr>
            <a:r>
              <a:rPr lang="en-US" sz="3600" dirty="0">
                <a:solidFill>
                  <a:schemeClr val="bg1"/>
                </a:solidFill>
                <a:latin typeface="CamptonW00-Book" pitchFamily="2" charset="0"/>
              </a:rPr>
              <a:t>Opportunity Cost of Refusing Loan =</a:t>
            </a:r>
          </a:p>
          <a:p>
            <a:pPr marL="152396" indent="0">
              <a:buNone/>
            </a:pPr>
            <a:r>
              <a:rPr lang="en-US" sz="3600" dirty="0">
                <a:solidFill>
                  <a:schemeClr val="bg1"/>
                </a:solidFill>
                <a:latin typeface="CamptonW00-Book" pitchFamily="2" charset="0"/>
              </a:rPr>
              <a:t>	Potential Profit from Interest + Goodwill + 			Processing Fee</a:t>
            </a:r>
          </a:p>
          <a:p>
            <a:pPr marL="152396" indent="0">
              <a:buNone/>
            </a:pPr>
            <a:endParaRPr lang="en-US" sz="3600" dirty="0">
              <a:solidFill>
                <a:schemeClr val="bg1"/>
              </a:solidFill>
              <a:latin typeface="CamptonW00-Book" pitchFamily="2" charset="0"/>
            </a:endParaRPr>
          </a:p>
          <a:p>
            <a:pPr marL="152396" indent="0">
              <a:buNone/>
            </a:pPr>
            <a:r>
              <a:rPr lang="en-US" sz="3600" dirty="0">
                <a:solidFill>
                  <a:schemeClr val="bg1"/>
                </a:solidFill>
                <a:latin typeface="CamptonW00-Book" pitchFamily="2" charset="0"/>
              </a:rPr>
              <a:t>These values can change over time!</a:t>
            </a:r>
          </a:p>
          <a:p>
            <a:pPr marL="152396" indent="0">
              <a:buNone/>
            </a:pPr>
            <a:endParaRPr lang="en-US" dirty="0">
              <a:solidFill>
                <a:schemeClr val="bg1"/>
              </a:solidFill>
              <a:latin typeface="CamptonW00-Book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C0F2E-6FAF-269F-2174-C64A1146541B}"/>
              </a:ext>
            </a:extLst>
          </p:cNvPr>
          <p:cNvSpPr txBox="1"/>
          <p:nvPr/>
        </p:nvSpPr>
        <p:spPr>
          <a:xfrm>
            <a:off x="88900" y="0"/>
            <a:ext cx="1201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CamptonW00-Book" pitchFamily="2" charset="0"/>
              </a:rPr>
              <a:t>Model Value: A Cost-Benefit Analysis</a:t>
            </a:r>
          </a:p>
        </p:txBody>
      </p:sp>
    </p:spTree>
    <p:extLst>
      <p:ext uri="{BB962C8B-B14F-4D97-AF65-F5344CB8AC3E}">
        <p14:creationId xmlns:p14="http://schemas.microsoft.com/office/powerpoint/2010/main" val="335831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&#10;&#10;Description automatically generated">
            <a:extLst>
              <a:ext uri="{FF2B5EF4-FFF2-40B4-BE49-F238E27FC236}">
                <a16:creationId xmlns:a16="http://schemas.microsoft.com/office/drawing/2014/main" id="{E729889A-6C3E-8EA3-95D8-46AF9B7E1E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78969" y="1596505"/>
            <a:ext cx="7843163" cy="5156881"/>
          </a:xfr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7E0D31E-632A-B25B-43A0-9A0CA91C5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0"/>
            <a:ext cx="11360800" cy="57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CamptonW00-Book" pitchFamily="2" charset="0"/>
              </a:rPr>
              <a:t>Example Analysis Under Current Market Conditions</a:t>
            </a:r>
          </a:p>
        </p:txBody>
      </p:sp>
      <p:pic>
        <p:nvPicPr>
          <p:cNvPr id="6" name="Content Placeholder 3" descr="A graph with a line&#10;&#10;Description automatically generated">
            <a:extLst>
              <a:ext uri="{FF2B5EF4-FFF2-40B4-BE49-F238E27FC236}">
                <a16:creationId xmlns:a16="http://schemas.microsoft.com/office/drawing/2014/main" id="{5E2F8821-F558-1241-65A7-C65BB300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666" y="572434"/>
            <a:ext cx="9514668" cy="62558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4685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B043471-2AC4-1FA9-0DBC-75C8F1830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3745566"/>
            <a:ext cx="11360800" cy="84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396" indent="0" algn="ctr">
              <a:buNone/>
            </a:pPr>
            <a:r>
              <a:rPr lang="en-IN" sz="4800" dirty="0">
                <a:solidFill>
                  <a:schemeClr val="bg1"/>
                </a:solidFill>
                <a:latin typeface="CamptonW00-Book" pitchFamily="2" charset="0"/>
              </a:rPr>
              <a:t>Thank You!</a:t>
            </a:r>
          </a:p>
        </p:txBody>
      </p:sp>
      <p:pic>
        <p:nvPicPr>
          <p:cNvPr id="6" name="Picture 5" descr="A red circle with a black background&#10;&#10;Description automatically generated">
            <a:extLst>
              <a:ext uri="{FF2B5EF4-FFF2-40B4-BE49-F238E27FC236}">
                <a16:creationId xmlns:a16="http://schemas.microsoft.com/office/drawing/2014/main" id="{AB2F5014-2D2F-2493-7D43-BBD7D1E9D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761" y="1131088"/>
            <a:ext cx="2614478" cy="261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8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237</Words>
  <Application>Microsoft Office PowerPoint</Application>
  <PresentationFormat>Widescreen</PresentationFormat>
  <Paragraphs>45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CamptonW00-Book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Analysis Under Current Market Conditions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Raunak Sharma</dc:creator>
  <cp:lastModifiedBy>Ahsan Ahmad</cp:lastModifiedBy>
  <cp:revision>15</cp:revision>
  <dcterms:created xsi:type="dcterms:W3CDTF">2024-04-14T17:40:26Z</dcterms:created>
  <dcterms:modified xsi:type="dcterms:W3CDTF">2024-04-15T01:13:38Z</dcterms:modified>
</cp:coreProperties>
</file>